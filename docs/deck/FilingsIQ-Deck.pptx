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Arial"/>
              </a:rPr>
              <a:t>Test-set accuracy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Zero-shot baseline</c:v>
                  </c:pt>
                  <c:pt idx="1">
                    <c:v>Fine-tuned gpt-4o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17.7</c:v>
                </c:pt>
                <c:pt idx="1">
                  <c:v>77.5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Chunks per fiscal year (640 total)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Chunks</c:v>
                </c:pt>
              </c:strCache>
            </c:strRef>
          </c:tx>
          <c:spPr>
            <a:solidFill>
              <a:srgbClr val="00C2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136</c:v>
                </c:pt>
                <c:pt idx="1">
                  <c:v>132</c:v>
                </c:pt>
                <c:pt idx="2">
                  <c:v>123</c:v>
                </c:pt>
                <c:pt idx="3">
                  <c:v>124</c:v>
                </c:pt>
                <c:pt idx="4">
                  <c:v>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58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005840" cy="1005840"/>
          </a:xfrm>
          <a:prstGeom prst="ellipse">
            <a:avLst/>
          </a:prstGeom>
          <a:solidFill>
            <a:srgbClr val="2B35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548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FilingsIQ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34290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SEC filings. Grounded answers, real citations — built and deployed end-to-end on Azure.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filingsiq-frontend.whitepebble-50a8bf56.eastus2.azurecontainerapps.io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github.com/leopbar/FilingsIQ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Engineer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 filings are long, dense, and easy to misread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94360" cy="59436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80006"/>
            <a:ext cx="309067" cy="3090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7556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10-K can run 100+ pages of legal and financial language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2651760"/>
            <a:ext cx="594360" cy="59436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2794406"/>
            <a:ext cx="309067" cy="3090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6700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answer from memory — they hallucinate numbers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31520" y="3566160"/>
            <a:ext cx="594360" cy="59436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708806"/>
            <a:ext cx="309067" cy="3090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35844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figure in a financial answer is a real liability, not a typo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675120" y="1554480"/>
            <a:ext cx="4846320" cy="420624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704088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FilingsIQ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040880" y="22860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DCE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223760" y="2286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Apple's total net sales in FY2025?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040880" y="310896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7" name="Text 12"/>
          <p:cNvSpPr/>
          <p:nvPr/>
        </p:nvSpPr>
        <p:spPr>
          <a:xfrm>
            <a:off x="7223760" y="3246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sales were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$416,161M</a:t>
            </a:r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fiscal year 2025. </a:t>
            </a:r>
            <a:pPr indent="0" marL="0"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223760" y="4160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“Total net sales … $416,161 million …” — 10-K, FY2025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704088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Grounded. Cited. Never guessed.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a grounded RAG pipeline, not a wrapper around GPT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9012" y="2029968"/>
            <a:ext cx="585216" cy="585216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9464" y="2170420"/>
            <a:ext cx="304312" cy="304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7249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1792" y="30175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the question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42032" y="2606040"/>
            <a:ext cx="237744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07208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7580" y="2029968"/>
            <a:ext cx="585216" cy="585216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032" y="2170420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27249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880360" y="30175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00600" y="2606040"/>
            <a:ext cx="237744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65776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56148" y="2029968"/>
            <a:ext cx="585216" cy="585216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600" y="2170420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38928" y="27249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138928" y="30175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+ re-ranker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059168" y="2606040"/>
            <a:ext cx="237744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24344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14716" y="2029968"/>
            <a:ext cx="585216" cy="585216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168" y="2170420"/>
            <a:ext cx="304312" cy="304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97496" y="27249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397496" y="30175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retrieved chunks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9317736" y="2606040"/>
            <a:ext cx="237744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582912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273284" y="2029968"/>
            <a:ext cx="585216" cy="585216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3736" y="2170420"/>
            <a:ext cx="304312" cy="3043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56064" y="27249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9656064" y="30175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spans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548640" y="3703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(Next.js)  →  FastAPI backend  →  Azure OpenAI + Azure AI Search  →  { answer, sources }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48640" y="44348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8229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ingestion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 →  Document Intelligence (layout + tables)  →  Azure AI Language (PII redaction)  →  chunk + embed  →  Azure AI Search index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of Apple 10-Ks processed in parallel via a PySpark + MLflow batch pipeline (640 chunks, 0 errors)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not promises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clause-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from 17.7% zero-shot)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1188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+59.8pp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gain from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gpt-4o 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671 held-out test clauses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9224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chunks processed by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PySpark + MLflow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0 errors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0" y="155448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8116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32688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context recall across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24-question golden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above comes from an actual eval run, saved to the repo — not an estimate.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Fine-tuning: gpt-4o on legal clause classification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 dataset · 41 standard contract-clause categories · 671 held-out test clauses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737360"/>
            <a:ext cx="411480" cy="41148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555" y="1836115"/>
            <a:ext cx="213970" cy="2139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49440" y="16916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fine-tune at all? Dense, overlapping legal categories are genuinely hard to separate zero-shot — the low baseline proves the task, not the model.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400800" y="3154680"/>
            <a:ext cx="411480" cy="41148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555" y="3253435"/>
            <a:ext cx="213970" cy="2139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9440" y="31089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5,361 examples, 3 epochs, ~5h35m, ~$43 — a real cost/time tradeoff documented in ADR-003.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6400800" y="4572000"/>
            <a:ext cx="411480" cy="41148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555" y="4670755"/>
            <a:ext cx="213970" cy="2139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49440" y="4526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moved 0.15 → 0.69, with several categories going from 0% to near-perfect F1.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ingestion: PySpark + MLflow batch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of Apple 10-K filings, processed and tracked as a real batch job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2B358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(Spark DF)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42032" y="2651760"/>
            <a:ext cx="173736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0116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2B3580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01168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(5)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36592" y="2651760"/>
            <a:ext cx="173736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20116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2B35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1168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31152" y="2651760"/>
            <a:ext cx="173736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0116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2B3580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201168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25712" y="2651760"/>
            <a:ext cx="173736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20116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2B3580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0" y="201168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3657600"/>
          <a:ext cx="6766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7589520" y="365760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2B3580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0" y="365760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281160" y="3657600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across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filings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589520" y="4645152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2B3580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0" y="4645152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132.5s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281160" y="464515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89520" y="5632704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2B3580"/>
          </a:solidFill>
          <a:ln/>
        </p:spPr>
      </p:sp>
      <p:sp>
        <p:nvSpPr>
          <p:cNvPr id="26" name="Text 23"/>
          <p:cNvSpPr/>
          <p:nvPr/>
        </p:nvSpPr>
        <p:spPr>
          <a:xfrm>
            <a:off x="7772400" y="5632704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9281160" y="5632704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/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per run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MLOps/LLMOps: the layer you don't see in the UI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97380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890" y="21177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eval gate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35204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24-question golden set scores faithfulness, relevancy, and retrieval quality — category-aware thresholds, not one flat bar.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92140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650" y="211775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63440" y="35204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traced end-to-end — embed, search, generate as separate spans — visible in production, not just locally.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86900" y="19202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410" y="211775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58200" y="35204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screened before it reaches GPT-4o. Fails open, so a non-critical gate's outage never takes down chat.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documented honestly: a DI table-flattening artifact that tanked one metric on correct answers, and a real cross-document retrieval gap — treated differently, not averaged away.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Governance: no plaintext secret, anywhere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2057400"/>
            <a:ext cx="731520" cy="731520"/>
          </a:xfrm>
          <a:prstGeom prst="ellipse">
            <a:avLst/>
          </a:prstGeom>
          <a:solidFill>
            <a:srgbClr val="3A45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465" y="22329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credentials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only in Azure Key Vault — never a CLI argument, file, or chat message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8328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3580"/>
          </a:solidFill>
          <a:ln/>
        </p:spPr>
      </p:sp>
      <p:sp>
        <p:nvSpPr>
          <p:cNvPr id="9" name="Shape 6"/>
          <p:cNvSpPr/>
          <p:nvPr/>
        </p:nvSpPr>
        <p:spPr>
          <a:xfrm>
            <a:off x="4320540" y="2057400"/>
            <a:ext cx="731520" cy="731520"/>
          </a:xfrm>
          <a:prstGeom prst="ellipse">
            <a:avLst/>
          </a:prstGeom>
          <a:solidFill>
            <a:srgbClr val="3A458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105" y="22329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66160" y="3611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Container Apps and the ACR pull use system-assigned identities, no admin passwords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3580"/>
          </a:solidFill>
          <a:ln/>
        </p:spPr>
      </p:sp>
      <p:sp>
        <p:nvSpPr>
          <p:cNvPr id="14" name="Shape 10"/>
          <p:cNvSpPr/>
          <p:nvPr/>
        </p:nvSpPr>
        <p:spPr>
          <a:xfrm>
            <a:off x="7155180" y="2057400"/>
            <a:ext cx="731520" cy="731520"/>
          </a:xfrm>
          <a:prstGeom prst="ellipse">
            <a:avLst/>
          </a:prstGeom>
          <a:solidFill>
            <a:srgbClr val="3A458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745" y="223296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zero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00800" y="3611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apps cost nothing while idle — enterprise pattern, portfolio budget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05256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B3580"/>
          </a:solidFill>
          <a:ln/>
        </p:spPr>
      </p:sp>
      <p:sp>
        <p:nvSpPr>
          <p:cNvPr id="19" name="Shape 14"/>
          <p:cNvSpPr/>
          <p:nvPr/>
        </p:nvSpPr>
        <p:spPr>
          <a:xfrm>
            <a:off x="9989820" y="2057400"/>
            <a:ext cx="731520" cy="731520"/>
          </a:xfrm>
          <a:prstGeom prst="ellipse">
            <a:avLst/>
          </a:prstGeom>
          <a:solidFill>
            <a:srgbClr val="3A458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5385" y="223296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ADRs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235440" y="36118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decision documented — including the ones that needed a second attempt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A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incident, handled honestly: a debug command briefly printed one API key into a chat transcript — caught, rotated, and documented in ADR-006 rather than hidden.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of 10 job requirements covered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5486400"/>
        </p:xfrm>
        <a:graphic>
          <a:graphicData uri="http://schemas.openxmlformats.org/drawingml/2006/table">
            <a:tbl>
              <a:tblPr/>
              <a:tblGrid>
                <a:gridCol w="5120640"/>
                <a:gridCol w="5486400"/>
                <a:gridCol w="4572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 + related AI services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+ text-embedding-3-small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 + RAG + vector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RAG, hybrid + semantic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database + Cognitive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Search (BM25 + HNSW + re-ranker)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processing (DI + Cognitive Services)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extraction + PII redaction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&amp; best practices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 + Managed Identity, ADR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&amp; architect AI solutions on Azure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Multi-service, live on Container 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&amp; model optimization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+59.8pp accuracy on CUAD clauses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 + scalable data pipelines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Spark + MLflow batch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MLOps / LLMOps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gate, tracing, Content Safety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enablement / presentations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README, ADRs, this deck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C2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914400"/>
            <a:ext cx="1005840" cy="1005840"/>
          </a:xfrm>
          <a:prstGeom prst="ellipse">
            <a:avLst/>
          </a:prstGeom>
          <a:solidFill>
            <a:srgbClr val="2B35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2" y="115580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defensible end-to-end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demo that works once — a deployed app with a real decision trail.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4023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filingsiq-frontend.whitepebble-50a8bf56.eastus2.azurecontainerapps.io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+ 6 ADRs: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github.com/leopbar/FilingsIQ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FilingsIQ — Azure AI Engineer Portfolio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FilingsIQ — Chat with SEC Filings on Azure</dc:title>
  <dc:subject>PptxGenJS Presentation</dc:subject>
  <dc:creator>FilingsIQ</dc:creator>
  <cp:lastModifiedBy>FilingsIQ</cp:lastModifiedBy>
  <cp:revision>1</cp:revision>
  <dcterms:created xsi:type="dcterms:W3CDTF">2026-06-25T17:08:41Z</dcterms:created>
  <dcterms:modified xsi:type="dcterms:W3CDTF">2026-06-25T17:08:41Z</dcterms:modified>
</cp:coreProperties>
</file>